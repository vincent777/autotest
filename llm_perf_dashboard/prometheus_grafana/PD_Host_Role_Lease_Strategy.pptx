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Ascend 910B 集群 PD 分离</a:t>
            </a:r>
          </a:p>
          <a:p>
            <a:pPr>
              <a:defRPr sz="2800" b="1">
                <a:solidFill>
                  <a:srgbClr val="D6EEE9"/>
                </a:solidFill>
                <a:latin typeface="Microsoft YaHei"/>
              </a:defRPr>
            </a:pPr>
            <a:r>
              <a:t>主机角色租约（Host Role Lease）策略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8C7D9"/>
                </a:solidFill>
                <a:latin typeface="Microsoft YaHei"/>
              </a:defRPr>
            </a:pPr>
            <a:r>
              <a:t>同角色可共机堆叠 · Prefill/Decode 严禁混部 · 跨 CI Job 统一调度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ci_autotest / ascend_test_suite  ·  llm_perf_dashboard</a:t>
            </a:r>
          </a:p>
          <a:p>
            <a:pPr>
              <a:defRPr sz="1300" b="0">
                <a:solidFill>
                  <a:srgbClr val="D6EEE9"/>
                </a:solidFill>
                <a:latin typeface="Microsoft YaHei"/>
              </a:defRPr>
            </a:pPr>
            <a:r>
              <a:t>适用引擎：vLLM / SGLang（PD 拓扑如 2P2D）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1. 为什么需要 PD 分离与角色隔离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2. 角色租约策略一句话定义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3. 主机状态机：idle / prefill / decode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4. 跨 CI Job 同角色堆叠示例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5. 放置与租约生命周期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6. 关键组件与数据流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7. 与 Prometheus 采集的衔接</a:t>
            </a:r>
          </a:p>
          <a:p>
            <a:pPr>
              <a:spcAft>
                <a:spcPts val="800"/>
              </a:spcAft>
              <a:defRPr sz="2000" b="0">
                <a:solidFill>
                  <a:srgbClr val="4A5568"/>
                </a:solidFill>
                <a:latin typeface="Microsoft YaHei"/>
              </a:defRPr>
            </a:pPr>
            <a:r>
              <a:t>8. 启用方式与运维命令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背景：PD 分离要解决什么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Prefill vs Decode 资源画像不同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A6D"/>
                </a:solidFill>
                <a:latin typeface="Microsoft YaHei"/>
              </a:defRPr>
            </a:pPr>
            <a:r>
              <a:t>Prefill（P）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偏算力密集（compute-bound）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影响 TTFT（首 token 时延）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长 prompt / 高并发时吃 CPU 与算力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45C26"/>
                </a:solidFill>
                <a:latin typeface="Microsoft YaHei"/>
              </a:defRPr>
            </a:pPr>
            <a:r>
              <a:t>Decode（D）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偏显存带宽密集（memory-bound）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影响 ITL / TPOT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对机内互联与内存带宽更敏感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0972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03A2E"/>
                </a:solidFill>
                <a:latin typeface="Microsoft YaHei"/>
              </a:defRPr>
            </a:pPr>
            <a:r>
              <a:t>混部风险（同一台物理机同时跑 P + D）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CPU / 主机内存带宽 / HCCS·PCIe 互联互相抢占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压测数字不稳定，难与「多机标准拓扑」公平对比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行业常见做法：P 池与 D 池隔离；至少禁止同机混部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策略定义（方案 B + 角色租约）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我们采用的调度规则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A7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2C4C"/>
                </a:solidFill>
                <a:latin typeface="Microsoft YaHei"/>
              </a:defRPr>
            </a:pPr>
            <a:r>
              <a:t>同一台物理机可以堆叠多个 CI Job 的全部 P 节点，或全部 D 节点；</a:t>
            </a:r>
          </a:p>
          <a:p>
            <a:pPr>
              <a:defRPr sz="1800" b="1">
                <a:solidFill>
                  <a:srgbClr val="C45C26"/>
                </a:solidFill>
                <a:latin typeface="Microsoft YaHei"/>
              </a:defRPr>
            </a:pPr>
            <a:r>
              <a:t>但绝不允许 Prefill 与 Decode 在同一台机器上混部。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35661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4F"/>
                </a:solidFill>
                <a:latin typeface="Microsoft YaHei"/>
              </a:defRPr>
            </a:pPr>
            <a:r>
              <a:t>允许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同机多 P（跨 vLLM/SGLang job）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同机多 D（跨 job）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空闲机首次可被 P 或 D 占用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383280"/>
            <a:ext cx="35661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03A2E"/>
                </a:solidFill>
                <a:latin typeface="Microsoft YaHei"/>
              </a:defRPr>
            </a:pPr>
            <a:r>
              <a:t>禁止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8862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同机同时存在 P 与 D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向 decode 机再放 P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向 prefill 机再放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383280"/>
            <a:ext cx="35661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A6D"/>
                </a:solidFill>
                <a:latin typeface="Microsoft YaHei"/>
              </a:defRPr>
            </a:pPr>
            <a:r>
              <a:t>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862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利用率高于「一机一实例」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避免最差干扰模式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多引擎并行 CI 仍可共机（同角色）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主机状态机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role ∈ {idle, prefill, decode}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A6D"/>
                </a:solidFill>
                <a:latin typeface="Microsoft YaHei"/>
              </a:defRPr>
            </a:pPr>
            <a:r>
              <a:t>idle</a:t>
            </a:r>
          </a:p>
          <a:p>
            <a:pPr>
              <a:defRPr sz="1600" b="1">
                <a:solidFill>
                  <a:srgbClr val="0F2C4C"/>
                </a:solidFill>
                <a:latin typeface="Microsoft YaHei"/>
              </a:defRPr>
            </a:pPr>
            <a:r>
              <a:t>空闲</a:t>
            </a:r>
          </a:p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无任何 PD 租约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7D4F"/>
                </a:solidFill>
                <a:latin typeface="Microsoft YaHei"/>
              </a:defRPr>
            </a:pPr>
            <a:r>
              <a:t>prefill</a:t>
            </a:r>
          </a:p>
          <a:p>
            <a:pPr>
              <a:defRPr sz="1600" b="1">
                <a:solidFill>
                  <a:srgbClr val="0F2C4C"/>
                </a:solidFill>
                <a:latin typeface="Microsoft YaHei"/>
              </a:defRPr>
            </a:pPr>
            <a:r>
              <a:t>Prefill 池</a:t>
            </a:r>
          </a:p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仅接受更多 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45C26"/>
                </a:solidFill>
                <a:latin typeface="Microsoft YaHei"/>
              </a:defRPr>
            </a:pPr>
            <a:r>
              <a:t>decode</a:t>
            </a:r>
          </a:p>
          <a:p>
            <a:pPr>
              <a:defRPr sz="1600" b="1">
                <a:solidFill>
                  <a:srgbClr val="0F2C4C"/>
                </a:solidFill>
                <a:latin typeface="Microsoft YaHei"/>
              </a:defRPr>
            </a:pPr>
            <a:r>
              <a:t>Decode 池</a:t>
            </a:r>
          </a:p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仅接受更多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A5568"/>
                </a:solidFill>
                <a:latin typeface="Microsoft YaHei"/>
              </a:defRPr>
            </a:pPr>
            <a:r>
              <a:t>第一个实例 acquire：idle → prefill 或 decode（锁定角色）</a:t>
            </a:r>
          </a:p>
          <a:p>
            <a:pPr>
              <a:spcAft>
                <a:spcPts val="800"/>
              </a:spcAft>
              <a:defRPr sz="1600" b="0">
                <a:solidFill>
                  <a:srgbClr val="4A5568"/>
                </a:solidFill>
                <a:latin typeface="Microsoft YaHei"/>
              </a:defRPr>
            </a:pPr>
            <a:r>
              <a:t>后续同角色实例：引用计数 +1（refs 堆叠，跨 CI Job 可共享）</a:t>
            </a:r>
          </a:p>
          <a:p>
            <a:pPr>
              <a:spcAft>
                <a:spcPts val="800"/>
              </a:spcAft>
              <a:defRPr sz="1600" b="0">
                <a:solidFill>
                  <a:srgbClr val="4A5568"/>
                </a:solidFill>
                <a:latin typeface="Microsoft YaHei"/>
              </a:defRPr>
            </a:pPr>
            <a:r>
              <a:t>实例结束 release：refs -1；refs 为空 → 回到 idle</a:t>
            </a:r>
          </a:p>
          <a:p>
            <a:pPr>
              <a:spcAft>
                <a:spcPts val="800"/>
              </a:spcAft>
              <a:defRPr sz="1600" b="0">
                <a:solidFill>
                  <a:srgbClr val="4A5568"/>
                </a:solidFill>
                <a:latin typeface="Microsoft YaHei"/>
              </a:defRPr>
            </a:pPr>
            <a:r>
              <a:t>共享落盘：/home/s_limingge/.npu_locks/host_role_leases.json（flock 互斥）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跨 CI Job 示例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vLLM 与 SGLang 并行压测时如何共机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577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A6D"/>
                </a:solidFill>
                <a:latin typeface="Microsoft YaHei"/>
              </a:defRPr>
            </a:pPr>
            <a:r>
              <a:t>推荐落地形态（示意）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机器 A：角色=prefill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  · Job-vLLM 的 P0/P1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  · Job-SGLang 的 P0（可再叠）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机器 B：角色=decode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  · Job-vLLM 的 D0/D1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  · Job-SGLang 的 D0（可再叠）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NPU 锁仍保证「不同卡不冲突」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角色租约保证「不同角色不同机」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45C26"/>
                </a:solidFill>
                <a:latin typeface="Microsoft YaHei"/>
              </a:defRPr>
            </a:pPr>
            <a:r>
              <a:t>对比：若无角色租约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仅靠空闲卡选机时：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· vLLM-P 与 SGLang-D 可能同机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· 卡不冲突，但 CPU/带宽仍争用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有角色租约后：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· D 无法 acquire 到 prefill 机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· 调度自动偏向同角色亲和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· 压测干扰模式可控、可解释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放置与租约生命周期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从选机到释放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645920"/>
            <a:ext cx="1828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1828800" cy="5029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7190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1. 探测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3317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扫描集群空闲 NPU</a:t>
            </a:r>
          </a:p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（npu-smi + NPU锁）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645920"/>
            <a:ext cx="1828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1645920"/>
            <a:ext cx="1828800" cy="50292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17190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2. 读租约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3317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dump-roles 得到</a:t>
            </a:r>
          </a:p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各机当前角色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645920"/>
            <a:ext cx="1828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645920"/>
            <a:ext cx="1828800" cy="5029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1" y="17190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3. 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7" y="23317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pd_place_servers</a:t>
            </a:r>
          </a:p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同角色亲和 + 反混部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19" y="1645920"/>
            <a:ext cx="1828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19" y="1645920"/>
            <a:ext cx="1828800" cy="50292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1" y="17190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4. Acquire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7" y="23317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为每个实例写入</a:t>
            </a:r>
          </a:p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lease_id 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645920"/>
            <a:ext cx="1828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645920"/>
            <a:ext cx="1828800" cy="5029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7190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5. 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23317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SSH 注入 PD_ROLE</a:t>
            </a:r>
          </a:p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写 server_config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1645920"/>
            <a:ext cx="1828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9840" y="1645920"/>
            <a:ext cx="1828800" cy="50292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190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6.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233172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任务结束/异常清理</a:t>
            </a:r>
          </a:p>
          <a:p>
            <a:pPr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refs→0 回 idle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lease_id 格式：{SESSION_ID}:{JOB_COUNT}:{instance_id}（如 12345:0:p0）</a:t>
            </a:r>
          </a:p>
          <a:p>
            <a:pPr>
              <a:defRPr sz="1400" b="0">
                <a:solidFill>
                  <a:srgbClr val="4A5568"/>
                </a:solidFill>
                <a:latin typeface="Microsoft YaHei"/>
              </a:defRPr>
            </a:pPr>
            <a:r>
              <a:t>释放：release-prefix（单 job） / release-session（整次会话异常退出）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关键组件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代码落点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09728" cy="71323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host_role_lease.py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3560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集群角色租约：acquire / release / dump-roles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30552"/>
            <a:ext cx="11064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30552"/>
            <a:ext cx="109728" cy="71323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pd_place_servers.py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按拓扑放置；角色亲和；P/D 反亲和校验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35224"/>
            <a:ext cx="11064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35224"/>
            <a:ext cx="109728" cy="71323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44952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ascend_resource_monitor.sh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44952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PD 选机 search_pd_servers；放置后立即 acquire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39896"/>
            <a:ext cx="11064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39896"/>
            <a:ext cx="109728" cy="71323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49624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siginfer_ascend_test.sh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49624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按 PD_PLACEMENT 启动；结束/清理时 release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44568"/>
            <a:ext cx="11064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44568"/>
            <a:ext cx="109728" cy="71323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54296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job_executor（vLLM/SGLang）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654296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PD_ROLE 写入 server_config；启动成功后 sync Prometheus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064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109728" cy="713232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58968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C4C"/>
                </a:solidFill>
                <a:latin typeface="Microsoft YaHei"/>
              </a:defRPr>
            </a:pPr>
            <a:r>
              <a:t>generate_prometheus_yaml.py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458968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从 server_config 生成 scrape；拒绝同 IP 的 P+D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与 Prometheus / Grafana 的衔接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动态 scrape 全节点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A5568"/>
                </a:solidFill>
                <a:latin typeface="Microsoft YaHei"/>
              </a:defRPr>
            </a:pPr>
            <a:r>
              <a:t>每个 P/D 实例在 server_config.txt 写一行：IP:JOB_ID:PORT ... role= topology= engine=</a:t>
            </a:r>
          </a:p>
          <a:p>
            <a:pPr>
              <a:spcAft>
                <a:spcPts val="800"/>
              </a:spcAft>
              <a:defRPr sz="1700" b="0">
                <a:solidFill>
                  <a:srgbClr val="4A5568"/>
                </a:solidFill>
                <a:latin typeface="Microsoft YaHei"/>
              </a:defRPr>
            </a:pPr>
            <a:r>
              <a:t>引擎启动成功后：generate_prometheus_yaml.py --from-server-config → prometheus.yaml</a:t>
            </a:r>
          </a:p>
          <a:p>
            <a:pPr>
              <a:spcAft>
                <a:spcPts val="800"/>
              </a:spcAft>
              <a:defRPr sz="1700" b="0">
                <a:solidFill>
                  <a:srgbClr val="4A5568"/>
                </a:solidFill>
                <a:latin typeface="Microsoft YaHei"/>
              </a:defRPr>
            </a:pPr>
            <a:r>
              <a:t>随后 Prometheus reload；Grafana 可持续常驻，不必随压测启停</a:t>
            </a:r>
          </a:p>
          <a:p>
            <a:pPr>
              <a:spcAft>
                <a:spcPts val="800"/>
              </a:spcAft>
              <a:defRPr sz="1700" b="0">
                <a:solidFill>
                  <a:srgbClr val="4A5568"/>
                </a:solidFill>
                <a:latin typeface="Microsoft YaHei"/>
              </a:defRPr>
            </a:pPr>
            <a:r>
              <a:t>scrape 默认抓 API 端口 /metrics；可用 metrics_port= 覆盖</a:t>
            </a:r>
          </a:p>
          <a:p>
            <a:pPr>
              <a:spcAft>
                <a:spcPts val="800"/>
              </a:spcAft>
              <a:defRPr sz="1700" b="0">
                <a:solidFill>
                  <a:srgbClr val="4A5568"/>
                </a:solidFill>
                <a:latin typeface="Microsoft YaHei"/>
              </a:defRPr>
            </a:pPr>
            <a:r>
              <a:t>若同 IP 同时出现 prefill+decode：生成器直接失败（二次防护）</a:t>
            </a:r>
          </a:p>
          <a:p>
            <a:pPr>
              <a:spcAft>
                <a:spcPts val="800"/>
              </a:spcAft>
              <a:defRPr sz="1700" b="0">
                <a:solidFill>
                  <a:srgbClr val="4A5568"/>
                </a:solidFill>
                <a:latin typeface="Microsoft YaHei"/>
              </a:defRPr>
            </a:pPr>
            <a:r>
              <a:t>说明：当前官方 dashboard 仍偏单实例视角；PD 分面展示可后续增强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启用与运维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CI / 调度侧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669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7A6D"/>
                </a:solidFill>
                <a:latin typeface="Microsoft YaHei"/>
              </a:defRPr>
            </a:pPr>
            <a:r>
              <a:t>启用 PD 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export PD_TOPOLOGY=2P2D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export PD_ALLOW_SAME_ROLE_COLOCATE=1  # 默认已开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然后照常跑：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./ascend_resource_monitor.sh Performance vLLM ...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未设置 PD_TOPOLOGY 时：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保持原有非 PD / TP 多机逻辑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C4C"/>
                </a:solidFill>
                <a:latin typeface="Microsoft YaHei"/>
              </a:defRPr>
            </a:pPr>
            <a:r>
              <a:t>运维命令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查看状态：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python3 host_role_lease.py status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python3 host_role_lease.py dump-roles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手动释放（慎用）：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release-prefix --prefix SESSION:JOB: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release-session --session SESSION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校验放置：</a:t>
            </a:r>
          </a:p>
          <a:p>
            <a:pPr>
              <a:spcAft>
                <a:spcPts val="400"/>
              </a:spcAft>
              <a:defRPr sz="1300" b="0">
                <a:solidFill>
                  <a:srgbClr val="4A5568"/>
                </a:solidFill>
                <a:latin typeface="Microsoft YaHei"/>
              </a:defRPr>
            </a:pPr>
            <a:r>
              <a:t>pd_place_servers.py --validate-placement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  <a:p>
            <a:pPr>
              <a:defRPr sz="1400" b="0">
                <a:solidFill>
                  <a:srgbClr val="B8C7D9"/>
                </a:solidFill>
                <a:latin typeface="Microsoft YaHei"/>
              </a:defRPr>
            </a:pPr>
            <a: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A5568"/>
                </a:solidFill>
                <a:latin typeface="Microsoft YaHei"/>
              </a:defRPr>
            </a:pPr>
            <a:r>
              <a:t>PD「节点」= 物理机上的引擎实例；卡数由 -tp / gpu_quantity 决定</a:t>
            </a:r>
          </a:p>
          <a:p>
            <a:pPr>
              <a:spcAft>
                <a:spcPts val="800"/>
              </a:spcAft>
              <a:defRPr sz="1800" b="0">
                <a:solidFill>
                  <a:srgbClr val="4A5568"/>
                </a:solidFill>
                <a:latin typeface="Microsoft YaHei"/>
              </a:defRPr>
            </a:pPr>
            <a:r>
              <a:t>核心策略：同角色可共机堆叠，P/D 严禁混部（主机角色租约）</a:t>
            </a:r>
          </a:p>
          <a:p>
            <a:pPr>
              <a:spcAft>
                <a:spcPts val="800"/>
              </a:spcAft>
              <a:defRPr sz="1800" b="0">
                <a:solidFill>
                  <a:srgbClr val="4A5568"/>
                </a:solidFill>
                <a:latin typeface="Microsoft YaHei"/>
              </a:defRPr>
            </a:pPr>
            <a:r>
              <a:t>跨 vLLM / SGLang CI Job 也可共享同角色主机，提升集群利用率</a:t>
            </a:r>
          </a:p>
          <a:p>
            <a:pPr>
              <a:spcAft>
                <a:spcPts val="800"/>
              </a:spcAft>
              <a:defRPr sz="1800" b="0">
                <a:solidFill>
                  <a:srgbClr val="4A5568"/>
                </a:solidFill>
                <a:latin typeface="Microsoft YaHei"/>
              </a:defRPr>
            </a:pPr>
            <a:r>
              <a:t>NPU 锁管「卡」，角色租约管「机」——两层正交</a:t>
            </a:r>
          </a:p>
          <a:p>
            <a:pPr>
              <a:spcAft>
                <a:spcPts val="800"/>
              </a:spcAft>
              <a:defRPr sz="1800" b="0">
                <a:solidFill>
                  <a:srgbClr val="4A5568"/>
                </a:solidFill>
                <a:latin typeface="Microsoft YaHei"/>
              </a:defRPr>
            </a:pPr>
            <a:r>
              <a:t>Prometheus 跟随 server_config 动态采集全 P/D 实例 metrics</a:t>
            </a:r>
          </a:p>
          <a:p>
            <a:pPr>
              <a:spcAft>
                <a:spcPts val="800"/>
              </a:spcAft>
              <a:defRPr sz="1800" b="0">
                <a:solidFill>
                  <a:srgbClr val="4A5568"/>
                </a:solidFill>
                <a:latin typeface="Microsoft YaHei"/>
              </a:defRPr>
            </a:pPr>
            <a:r>
              <a:t>正式报性能时仍建议标注拓扑与是否同角色共置，保证结论可复现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